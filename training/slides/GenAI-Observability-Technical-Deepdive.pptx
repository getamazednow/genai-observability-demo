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869680" y="-2103120"/>
            <a:ext cx="5943600" cy="5943600"/>
          </a:xfrm>
          <a:prstGeom prst="ellipse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966960" y="3108960"/>
            <a:ext cx="3291840" cy="3291840"/>
          </a:xfrm>
          <a:prstGeom prst="ellipse">
            <a:avLst/>
          </a:prstGeom>
          <a:solidFill>
            <a:srgbClr val="1F9E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9E97"/>
                </a:solidFill>
                <a:latin typeface="Calibri"/>
              </a:rPr>
              <a:t>MOCK / PORTFOLIO REFERENCE — TECHNICAL TRACK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96012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Building the Real Thing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84124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1">
                <a:solidFill>
                  <a:srgbClr val="C9D6EC"/>
                </a:solidFill>
                <a:latin typeface="Calibri"/>
              </a:rPr>
              <a:t>Build requirements, the Datadog implementation reference, and a phased, gated plan for an agent (or engineering team) to build the production infrastructure this demo mocks.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074920"/>
            <a:ext cx="3931920" cy="457200"/>
          </a:xfrm>
          <a:prstGeom prst="roundRect">
            <a:avLst>
              <a:gd name="adj" fmla="val 50000"/>
            </a:avLst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074920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E0982A"/>
                </a:solidFill>
                <a:latin typeface="Calibri"/>
              </a:rPr>
              <a:t>MOCK / SYNTHETIC DATA  —  NOT CONNECTED TO ANY LIVE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093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8A9BC4"/>
                </a:solidFill>
                <a:latin typeface="Calibri"/>
              </a:rPr>
              <a:t>Technical Deep-Dive  |  2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F9E97"/>
                </a:solidFill>
                <a:latin typeface="Calibr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6213E"/>
                </a:solidFill>
                <a:latin typeface="Calibri"/>
              </a:rPr>
              <a:t>What we'll 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592A6"/>
                </a:solidFill>
                <a:latin typeface="Calibri"/>
              </a:rPr>
              <a:t>02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592A6"/>
                </a:solidFill>
                <a:latin typeface="Calibri"/>
              </a:rPr>
              <a:t>GenAI Project Observability — Technical Deep-Dive  |  MOCK / SYNTHETIC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20240"/>
            <a:ext cx="11155680" cy="1005840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>
            <a:noFill/>
          </a:ln>
          <a:effectLst/>
          <a:effectLst>
            <a:outerShdw blurRad="90000" dist="30000" dir="5400000" rotWithShape="0">
              <a:srgbClr val="1621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2024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F9E97"/>
                </a:solidFill>
                <a:latin typeface="Calibr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20" y="208483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6213E"/>
                </a:solidFill>
                <a:latin typeface="Calibri"/>
              </a:rPr>
              <a:t>Build requirements &amp; dependencies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20" y="2542032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3E5C76"/>
                </a:solidFill>
                <a:latin typeface="Calibri"/>
              </a:rPr>
              <a:t>What has to be true before a real pilot workflow is instrumented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154680"/>
            <a:ext cx="11155680" cy="1005840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>
            <a:noFill/>
          </a:ln>
          <a:effectLst/>
          <a:effectLst>
            <a:outerShdw blurRad="90000" dist="30000" dir="5400000" rotWithShape="0">
              <a:srgbClr val="1621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15468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F9E97"/>
                </a:solidFill>
                <a:latin typeface="Calibri"/>
              </a:rPr>
              <a:t>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20" y="331927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6213E"/>
                </a:solidFill>
                <a:latin typeface="Calibri"/>
              </a:rPr>
              <a:t>Datadog implementation reference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20" y="3776472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3E5C76"/>
                </a:solidFill>
                <a:latin typeface="Calibri"/>
              </a:rPr>
              <a:t>APIs, SDKs, metric namespace, dashboards, monitors, SLOs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389120"/>
            <a:ext cx="11155680" cy="1005840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>
            <a:noFill/>
          </a:ln>
          <a:effectLst/>
          <a:effectLst>
            <a:outerShdw blurRad="90000" dist="30000" dir="5400000" rotWithShape="0">
              <a:srgbClr val="1621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38912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F9E97"/>
                </a:solidFill>
                <a:latin typeface="Calibri"/>
              </a:rPr>
              <a:t>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20" y="455371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6213E"/>
                </a:solidFill>
                <a:latin typeface="Calibri"/>
              </a:rPr>
              <a:t>If Claude Code were to build this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20" y="5010912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3E5C76"/>
                </a:solidFill>
                <a:latin typeface="Calibri"/>
              </a:rPr>
              <a:t>A phased, gated plan — with explicit human checkpoints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194560" y="3931920"/>
            <a:ext cx="5486400" cy="5486400"/>
          </a:xfrm>
          <a:prstGeom prst="ellipse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 i="0">
                <a:solidFill>
                  <a:srgbClr val="1F9E97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20440"/>
            <a:ext cx="9601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Build requirements &amp; dependencies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C9D6EC"/>
                </a:solidFill>
                <a:latin typeface="Calibri"/>
              </a:rPr>
              <a:t>What has to be true before this mock becomes a live, governed 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B8C2D6"/>
                </a:solidFill>
                <a:latin typeface="Calibri"/>
              </a:rPr>
              <a:t>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F9E97"/>
                </a:solidFill>
                <a:latin typeface="Calibri"/>
              </a:rPr>
              <a:t>05 — 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6213E"/>
                </a:solidFill>
                <a:latin typeface="Calibri"/>
              </a:rPr>
              <a:t>The synthetic schema is the target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592A6"/>
                </a:solidFill>
                <a:latin typeface="Calibri"/>
              </a:rPr>
              <a:t>04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592A6"/>
                </a:solidFill>
                <a:latin typeface="Calibri"/>
              </a:rPr>
              <a:t>GenAI Project Observability — Technical Deep-Dive  |  MOCK / SYNTHETIC DATA</a:t>
            </a:r>
          </a:p>
        </p:txBody>
      </p:sp>
      <p:pic>
        <p:nvPicPr>
          <p:cNvPr id="6" name="Picture 5" descr="03-mock-to-real-mig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5153" y="1371600"/>
            <a:ext cx="7551214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F9E97"/>
                </a:solidFill>
                <a:latin typeface="Calibri"/>
              </a:rPr>
              <a:t>05 — BEFORE THE FIRST REAL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6213E"/>
                </a:solidFill>
                <a:latin typeface="Calibri"/>
              </a:rPr>
              <a:t>Organisational &amp; technical prerequisites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592A6"/>
                </a:solidFill>
                <a:latin typeface="Calibri"/>
              </a:rPr>
              <a:t>05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592A6"/>
                </a:solidFill>
                <a:latin typeface="Calibri"/>
              </a:rPr>
              <a:t>GenAI Project Observability — Technical Deep-Dive  |  MOCK / SYNTHETIC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F9E97"/>
                </a:solidFill>
                <a:latin typeface="Calibri"/>
              </a:rPr>
              <a:t>ORGANISATIONAL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5440680" cy="3931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 marL="228600" indent="-228600">
              <a:lnSpc>
                <a:spcPct val="120000"/>
              </a:lnSpc>
              <a:spcAft>
                <a:spcPts val="1300"/>
              </a:spcAft>
              <a:buFont typeface="Arial"/>
              <a:buChar char="•"/>
            </a:pPr>
            <a:r>
              <a:rPr sz="1250">
                <a:solidFill>
                  <a:srgbClr val="222222"/>
                </a:solidFill>
                <a:latin typeface="Calibri"/>
              </a:rPr>
              <a:t>Named owner per accountability layer, agreed before instrumenting live traffic</a:t>
            </a:r>
          </a:p>
          <a:p>
            <a:pPr algn="l" marL="228600" indent="-228600">
              <a:lnSpc>
                <a:spcPct val="120000"/>
              </a:lnSpc>
              <a:spcAft>
                <a:spcPts val="1300"/>
              </a:spcAft>
              <a:buFont typeface="Arial"/>
              <a:buChar char="•"/>
            </a:pPr>
            <a:r>
              <a:rPr sz="1250">
                <a:solidFill>
                  <a:srgbClr val="222222"/>
                </a:solidFill>
                <a:latin typeface="Calibri"/>
              </a:rPr>
              <a:t>Risk tier definitions for the pilot workflow (low/medium/high — drives SLO targets and approvals)</a:t>
            </a:r>
          </a:p>
          <a:p>
            <a:pPr algn="l" marL="228600" indent="-228600">
              <a:lnSpc>
                <a:spcPct val="120000"/>
              </a:lnSpc>
              <a:spcAft>
                <a:spcPts val="1300"/>
              </a:spcAft>
              <a:buFont typeface="Arial"/>
              <a:buChar char="•"/>
            </a:pPr>
            <a:r>
              <a:rPr sz="1250">
                <a:solidFill>
                  <a:srgbClr val="222222"/>
                </a:solidFill>
                <a:latin typeface="Calibri"/>
              </a:rPr>
              <a:t>Redaction/classification/retention policy signed off by data governance and legal</a:t>
            </a:r>
          </a:p>
          <a:p>
            <a:pPr algn="l" marL="228600" indent="-228600">
              <a:lnSpc>
                <a:spcPct val="120000"/>
              </a:lnSpc>
              <a:spcAft>
                <a:spcPts val="1300"/>
              </a:spcAft>
              <a:buFont typeface="Arial"/>
              <a:buChar char="•"/>
            </a:pPr>
            <a:r>
              <a:rPr sz="1250">
                <a:solidFill>
                  <a:srgbClr val="222222"/>
                </a:solidFill>
                <a:latin typeface="Calibri"/>
              </a:rPr>
              <a:t>Executive sponsor for the cost-avoidance and ROI narrative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371600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F9E97"/>
                </a:solidFill>
                <a:latin typeface="Calibri"/>
              </a:rPr>
              <a:t>TECHNICAL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783080"/>
            <a:ext cx="5440680" cy="3931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250">
                <a:solidFill>
                  <a:srgbClr val="222222"/>
                </a:solidFill>
                <a:latin typeface="Calibri"/>
              </a:rPr>
              <a:t>Datadog org with LLM Observability + APM entitlements, admin access for dashboards-as-code import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250">
                <a:solidFill>
                  <a:srgbClr val="222222"/>
                </a:solidFill>
                <a:latin typeface="Calibri"/>
              </a:rPr>
              <a:t>Instrumentation choice: Datadog LLM/Agent Obs SDK vs. OpenTelemetry GenAI semantic conventions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250">
                <a:solidFill>
                  <a:srgbClr val="222222"/>
                </a:solidFill>
                <a:latin typeface="Calibri"/>
              </a:rPr>
              <a:t>Approved model/tool registry — sanctioned providers, models, tools and their risk classifications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250">
                <a:solidFill>
                  <a:srgbClr val="222222"/>
                </a:solidFill>
                <a:latin typeface="Calibri"/>
              </a:rPr>
              <a:t>Tag taxonomy agreed before scaling past the pilot (high-cardinality raw IDs get expensive fast)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250">
                <a:solidFill>
                  <a:srgbClr val="222222"/>
                </a:solidFill>
                <a:latin typeface="Calibri"/>
              </a:rPr>
              <a:t>On-call/alert-routing target to wire datadog/monitors and datadog/slos 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F9E97"/>
                </a:solidFill>
                <a:latin typeface="Calibri"/>
              </a:rPr>
              <a:t>05 — THE WEEKS 7–10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6213E"/>
                </a:solidFill>
                <a:latin typeface="Calibri"/>
              </a:rPr>
              <a:t>The one capability gap that matters most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592A6"/>
                </a:solidFill>
                <a:latin typeface="Calibri"/>
              </a:rPr>
              <a:t>06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592A6"/>
                </a:solidFill>
                <a:latin typeface="Calibri"/>
              </a:rPr>
              <a:t>GenAI Project Observability — Technical Deep-Dive  |  MOCK / SYNTHETIC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55680" cy="2880360"/>
          </a:xfrm>
          <a:prstGeom prst="roundRect">
            <a:avLst>
              <a:gd name="adj" fmla="val 5000"/>
            </a:avLst>
          </a:prstGeom>
          <a:solidFill>
            <a:srgbClr val="FCEBD3"/>
          </a:solidFill>
          <a:ln>
            <a:noFill/>
          </a:ln>
          <a:effectLst/>
          <a:effectLst>
            <a:outerShdw blurRad="90000" dist="30000" dir="5400000" rotWithShape="0">
              <a:srgbClr val="1621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63040"/>
            <a:ext cx="91440" cy="2880360"/>
          </a:xfrm>
          <a:prstGeom prst="rect">
            <a:avLst/>
          </a:prstGeom>
          <a:solidFill>
            <a:srgbClr val="E09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9164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6213E"/>
                </a:solidFill>
                <a:latin typeface="Calibri"/>
              </a:rPr>
              <a:t>A real evaluation harness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10424160" cy="1965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222222"/>
                </a:solidFill>
                <a:latin typeface="Calibri"/>
              </a:rPr>
              <a:t>An LLM-as-judge pipeline, golden test sets, and a human-review sampling process. This is the single biggest capability gap between this demo and a defensible production system — groundedness, citation-accuracy, hallucination and regression scores are currently synthetic. Sensitive Data Scanner/DLP integration and a human-override concept in the product surface are the other two gaps in this phase.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17720"/>
            <a:ext cx="111556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16213E"/>
                </a:solidFill>
                <a:latin typeface="Calibri"/>
              </a:rPr>
              <a:t>This is a governance decision, not just an engineering task: Responsible AI/Risk must sign off on the evaluation methodology before its output gates any release. An agent can scaffold the plumbing to call an evaluation service — it should not select the methodology or curate golden sets.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194560" y="3931920"/>
            <a:ext cx="5486400" cy="5486400"/>
          </a:xfrm>
          <a:prstGeom prst="ellipse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 i="0">
                <a:solidFill>
                  <a:srgbClr val="1F9E97"/>
                </a:solidFill>
                <a:latin typeface="Calibr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20440"/>
            <a:ext cx="9601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Datadog implementation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C9D6EC"/>
                </a:solidFill>
                <a:latin typeface="Calibri"/>
              </a:rPr>
              <a:t>APIs, SDKs, the metric namespace, and the dashboards/monitors/SLOs already drafted in this repo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B8C2D6"/>
                </a:solidFill>
                <a:latin typeface="Calibri"/>
              </a:rPr>
              <a:t>07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F9E97"/>
                </a:solidFill>
                <a:latin typeface="Calibri"/>
              </a:rPr>
              <a:t>06 — INSTRUMENTATION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6213E"/>
                </a:solidFill>
                <a:latin typeface="Calibri"/>
              </a:rPr>
              <a:t>Which SDK / API to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592A6"/>
                </a:solidFill>
                <a:latin typeface="Calibri"/>
              </a:rPr>
              <a:t>08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592A6"/>
                </a:solidFill>
                <a:latin typeface="Calibri"/>
              </a:rPr>
              <a:t>GenAI Project Observability — Technical Deep-Dive  |  MOCK / SYNTHETIC DATA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508760"/>
          <a:ext cx="1115567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2931"/>
                <a:gridCol w="7362748"/>
              </a:tblGrid>
              <a:tr h="64008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 marT="50800" marB="50800" anchor="ctr"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When to use it</a:t>
                      </a:r>
                    </a:p>
                  </a:txBody>
                  <a:tcPr marT="50800" marB="50800" anchor="ctr">
                    <a:solidFill>
                      <a:srgbClr val="16213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Datadog LLM Observability SDK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Supported frameworks/providers (OpenAI, Anthropic, Bedrock, Azure OpenAI, LangChain, LangGraph)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Datadog Agent Observability SDK</a:t>
                      </a:r>
                    </a:p>
                  </a:txBody>
                  <a:tcPr marT="38100" marB="38100" marL="76200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Custom agent orchestration — planning, tool calls, loop spans</a:t>
                      </a:r>
                    </a:p>
                  </a:txBody>
                  <a:tcPr marT="38100" marB="38100" marL="76200" anchor="ctr">
                    <a:solidFill>
                      <a:srgbClr val="F6F7F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OpenTelemetry GenAI semantic conventions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Cross-vendor portability preferred, or unsupported frameworks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Manual spans / custom instrumentation</a:t>
                      </a:r>
                    </a:p>
                  </a:txBody>
                  <a:tcPr marT="38100" marB="38100" marL="76200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Anything auto-instrumentation doesn't cover (proprietary orchestration)</a:t>
                      </a:r>
                    </a:p>
                  </a:txBody>
                  <a:tcPr marT="38100" marB="38100" marL="76200" anchor="ctr"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983480"/>
            <a:ext cx="111556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1">
                <a:solidFill>
                  <a:srgbClr val="3E5C76"/>
                </a:solidFill>
                <a:latin typeface="Calibri"/>
              </a:rPr>
              <a:t>The synthetic span taxonomy in this repo (workflow / llm / retrieval / tool / guardrail) mirrors the addendum's recommended taxonomy — migrating the generator's field names into either SDK or OTel is a direct mapping exercise, not a redesign.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F9E97"/>
                </a:solidFill>
                <a:latin typeface="Calibri"/>
              </a:rPr>
              <a:t>06 — LAYERED 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6213E"/>
                </a:solidFill>
                <a:latin typeface="Calibri"/>
              </a:rPr>
              <a:t>Target Datadog implementation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592A6"/>
                </a:solidFill>
                <a:latin typeface="Calibri"/>
              </a:rPr>
              <a:t>09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592A6"/>
                </a:solidFill>
                <a:latin typeface="Calibri"/>
              </a:rPr>
              <a:t>GenAI Project Observability — Technical Deep-Dive  |  MOCK / SYNTHETIC DATA</a:t>
            </a:r>
          </a:p>
        </p:txBody>
      </p:sp>
      <p:pic>
        <p:nvPicPr>
          <p:cNvPr id="6" name="Picture 5" descr="06-datadog-implementation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6829" y="1371600"/>
            <a:ext cx="666786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F9E97"/>
                </a:solidFill>
                <a:latin typeface="Calibri"/>
              </a:rPr>
              <a:t>06 — METRIC NAMESPACE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6213E"/>
                </a:solidFill>
                <a:latin typeface="Calibri"/>
              </a:rPr>
              <a:t>genai.* — a starting convention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592A6"/>
                </a:solidFill>
                <a:latin typeface="Calibri"/>
              </a:rPr>
              <a:t>10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592A6"/>
                </a:solidFill>
                <a:latin typeface="Calibri"/>
              </a:rPr>
              <a:t>GenAI Project Observability — Technical Deep-Dive  |  MOCK / SYNTHETIC DATA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63040"/>
          <a:ext cx="11155679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9817"/>
                <a:gridCol w="2008022"/>
                <a:gridCol w="5577840"/>
              </a:tblGrid>
              <a:tr h="508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T="50800" marB="50800" anchor="ctr"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T="50800" marB="50800" anchor="ctr"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Key tags</a:t>
                      </a:r>
                    </a:p>
                  </a:txBody>
                  <a:tcPr marT="50800" marB="50800" anchor="ctr">
                    <a:solidFill>
                      <a:srgbClr val="16213E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genai.workflow.count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outcome, use_case, tenant, channel, risk_tier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genai.workflow.cost_usd</a:t>
                      </a:r>
                    </a:p>
                  </a:txBody>
                  <a:tcPr marT="38100" marB="38100" marL="76200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distribution</a:t>
                      </a:r>
                    </a:p>
                  </a:txBody>
                  <a:tcPr marT="38100" marB="38100" marL="76200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use_case, tenant, cost_category</a:t>
                      </a:r>
                    </a:p>
                  </a:txBody>
                  <a:tcPr marT="38100" marB="38100" marL="76200" anchor="ctr">
                    <a:solidFill>
                      <a:srgbClr val="F6F7F9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genai.llm.call.count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provider, model, status, finish_reason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genai.llm.tokens</a:t>
                      </a:r>
                    </a:p>
                  </a:txBody>
                  <a:tcPr marT="38100" marB="38100" marL="76200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distribution</a:t>
                      </a:r>
                    </a:p>
                  </a:txBody>
                  <a:tcPr marT="38100" marB="38100" marL="76200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provider, model, token_type</a:t>
                      </a:r>
                    </a:p>
                  </a:txBody>
                  <a:tcPr marT="38100" marB="38100" marL="76200" anchor="ctr">
                    <a:solidFill>
                      <a:srgbClr val="F6F7F9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genai.tool.call.count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tool_name, risk_class, status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genai.guardrail.decision.count</a:t>
                      </a:r>
                    </a:p>
                  </a:txBody>
                  <a:tcPr marT="38100" marB="38100" marL="76200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marT="38100" marB="38100" marL="76200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policy_name, allow_block_escalate, reason_code</a:t>
                      </a:r>
                    </a:p>
                  </a:txBody>
                  <a:tcPr marT="38100" marB="38100" marL="76200" anchor="ctr">
                    <a:solidFill>
                      <a:srgbClr val="F6F7F9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genai.eval.groundedness_score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gauge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use_case — from evaluation harness, not raw traces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genai.release.event</a:t>
                      </a:r>
                    </a:p>
                  </a:txBody>
                  <a:tcPr marT="38100" marB="38100" marL="76200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marT="38100" marB="38100" marL="76200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event_type, artefact, from_version, to_version</a:t>
                      </a:r>
                    </a:p>
                  </a:txBody>
                  <a:tcPr marT="38100" marB="38100" marL="76200" anchor="ctr"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17220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592A6"/>
                </a:solidFill>
                <a:latin typeface="Calibri"/>
              </a:rPr>
              <a:t>Full 20-metric namespace in docs/datadog-mapping.md and training/reading/05-datadog-implementation-reference.md.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F9E97"/>
                </a:solidFill>
                <a:latin typeface="Calibri"/>
              </a:rPr>
              <a:t>06 — DASHBOARDS-AS-CODE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6213E"/>
                </a:solidFill>
                <a:latin typeface="Calibri"/>
              </a:rPr>
              <a:t>Import path for dashboards, monitors &amp; SLOs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592A6"/>
                </a:solidFill>
                <a:latin typeface="Calibri"/>
              </a:rPr>
              <a:t>11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592A6"/>
                </a:solidFill>
                <a:latin typeface="Calibri"/>
              </a:rPr>
              <a:t>GenAI Project Observability — Technical Deep-Dive  |  MOCK / SYNTHETIC DATA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508760"/>
          <a:ext cx="11155678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0476"/>
                <a:gridCol w="5131612"/>
                <a:gridCol w="3123590"/>
              </a:tblGrid>
              <a:tr h="7086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Artefact</a:t>
                      </a:r>
                    </a:p>
                  </a:txBody>
                  <a:tcPr marT="50800" marB="50800" anchor="ctr"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Contents</a:t>
                      </a:r>
                    </a:p>
                  </a:txBody>
                  <a:tcPr marT="50800" marB="50800" anchor="ctr"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Import path</a:t>
                      </a:r>
                    </a:p>
                  </a:txBody>
                  <a:tcPr marT="50800" marB="50800" anchor="ctr">
                    <a:solidFill>
                      <a:srgbClr val="16213E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datadog/dashboards/*.json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7 templates, one per dashboard, status: implemented_in_demo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Dashboards API or datadog_dashboard Terraform resource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datadog/monitors/*.json</a:t>
                      </a:r>
                    </a:p>
                  </a:txBody>
                  <a:tcPr marT="38100" marB="38100" marL="76200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5 illustrative alerts (success rate, rate-limit, agent loop, high-risk-no-approval, data egress)</a:t>
                      </a:r>
                    </a:p>
                  </a:txBody>
                  <a:tcPr marT="38100" marB="38100" marL="76200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Monitors API or datadog_monitor Terraform resource</a:t>
                      </a:r>
                    </a:p>
                  </a:txBody>
                  <a:tcPr marT="38100" marB="38100" marL="76200" anchor="ctr">
                    <a:solidFill>
                      <a:srgbClr val="F6F7F9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datadog/slos/*.json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SLO objects referencing the monitors as time-slices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SLO API, referencing monitor IDs above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709160"/>
            <a:ext cx="111556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16213E"/>
                </a:solidFill>
                <a:latin typeface="Calibri"/>
              </a:rPr>
              <a:t>Every monitor's notify target is a placeholder (@pagerduty-genai-oncall, @security-oncall). Re-pointing these at a real on-call rotation should be its own reviewed change — never bundled into the initial dashboards-as-code import.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194560" y="3931920"/>
            <a:ext cx="5486400" cy="5486400"/>
          </a:xfrm>
          <a:prstGeom prst="ellipse">
            <a:avLst/>
          </a:prstGeom>
          <a:solidFill>
            <a:srgbClr val="0F3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 i="0">
                <a:solidFill>
                  <a:srgbClr val="1F9E97"/>
                </a:solidFill>
                <a:latin typeface="Calibr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20440"/>
            <a:ext cx="9601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If Claude Code were to build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C9D6EC"/>
                </a:solidFill>
                <a:latin typeface="Calibri"/>
              </a:rPr>
              <a:t>A phased, gated plan — scoped so an agent never holds live credentials or governance decisions alone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B8C2D6"/>
                </a:solidFill>
                <a:latin typeface="Calibr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F9E97"/>
                </a:solidFill>
                <a:latin typeface="Calibri"/>
              </a:rPr>
              <a:t>07 — OPERATING PRINCIPLES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6213E"/>
                </a:solidFill>
                <a:latin typeface="Calibri"/>
              </a:rPr>
              <a:t>Ground rules before any agent touches this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592A6"/>
                </a:solidFill>
                <a:latin typeface="Calibri"/>
              </a:rPr>
              <a:t>13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592A6"/>
                </a:solidFill>
                <a:latin typeface="Calibri"/>
              </a:rPr>
              <a:t>GenAI Project Observability — Technical Deep-Dive  |  MOCK / SYNTHETIC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08760"/>
            <a:ext cx="11155680" cy="3931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 marL="228600" indent="-228600">
              <a:lnSpc>
                <a:spcPct val="120000"/>
              </a:lnSpc>
              <a:spcAft>
                <a:spcPts val="1800"/>
              </a:spcAft>
              <a:buFont typeface="Arial"/>
              <a:buChar char="•"/>
            </a:pPr>
            <a:r>
              <a:rPr b="1" sz="1400">
                <a:solidFill>
                  <a:srgbClr val="222222"/>
                </a:solidFill>
                <a:latin typeface="Calibri"/>
              </a:rPr>
              <a:t>The synthetic schema is the target contract. </a:t>
            </a:r>
            <a:r>
              <a:rPr sz="1400">
                <a:solidFill>
                  <a:srgbClr val="222222"/>
                </a:solidFill>
                <a:latin typeface="Calibri"/>
              </a:rPr>
              <a:t>Don't redesign the telemetry schema; re-point it.</a:t>
            </a:r>
          </a:p>
          <a:p>
            <a:pPr algn="l" marL="228600" indent="-228600">
              <a:lnSpc>
                <a:spcPct val="120000"/>
              </a:lnSpc>
              <a:spcAft>
                <a:spcPts val="1800"/>
              </a:spcAft>
              <a:buFont typeface="Arial"/>
              <a:buChar char="•"/>
            </a:pPr>
            <a:r>
              <a:rPr b="1" sz="1400">
                <a:solidFill>
                  <a:srgbClr val="222222"/>
                </a:solidFill>
                <a:latin typeface="Calibri"/>
              </a:rPr>
              <a:t>No live credentials in the agent's default context. </a:t>
            </a:r>
            <a:r>
              <a:rPr sz="1400">
                <a:solidFill>
                  <a:srgbClr val="222222"/>
                </a:solidFill>
                <a:latin typeface="Calibri"/>
              </a:rPr>
              <a:t>API keys and org access supplied per-phase, never committed.</a:t>
            </a:r>
          </a:p>
          <a:p>
            <a:pPr algn="l" marL="228600" indent="-228600">
              <a:lnSpc>
                <a:spcPct val="120000"/>
              </a:lnSpc>
              <a:spcAft>
                <a:spcPts val="1800"/>
              </a:spcAft>
              <a:buFont typeface="Arial"/>
              <a:buChar char="•"/>
            </a:pPr>
            <a:r>
              <a:rPr b="1" sz="1400">
                <a:solidFill>
                  <a:srgbClr val="222222"/>
                </a:solidFill>
                <a:latin typeface="Calibri"/>
              </a:rPr>
              <a:t>Every phase ends with a human review gate, </a:t>
            </a:r>
            <a:r>
              <a:rPr sz="1400">
                <a:solidFill>
                  <a:srgbClr val="222222"/>
                </a:solidFill>
                <a:latin typeface="Calibri"/>
              </a:rPr>
              <a:t>not a merge-and-move-on — observability tooling operationalises controls, it doesn't replace ownership.</a:t>
            </a:r>
          </a:p>
          <a:p>
            <a:pPr algn="l" marL="228600" indent="-228600">
              <a:lnSpc>
                <a:spcPct val="120000"/>
              </a:lnSpc>
              <a:spcAft>
                <a:spcPts val="1800"/>
              </a:spcAft>
              <a:buFont typeface="Arial"/>
              <a:buChar char="•"/>
            </a:pPr>
            <a:r>
              <a:rPr b="1" sz="1400">
                <a:solidFill>
                  <a:srgbClr val="222222"/>
                </a:solidFill>
                <a:latin typeface="Calibri"/>
              </a:rPr>
              <a:t>Additive, reversible changes. </a:t>
            </a:r>
            <a:r>
              <a:rPr sz="1400">
                <a:solidFill>
                  <a:srgbClr val="222222"/>
                </a:solidFill>
                <a:latin typeface="Calibri"/>
              </a:rPr>
              <a:t>Each phase is a mergeable, revertable unit of work.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4924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349240"/>
            <a:ext cx="106070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FFFFFF"/>
                </a:solidFill>
                <a:latin typeface="Calibri"/>
              </a:rPr>
              <a:t>Phase 0 — Preflight (human-only): named ownership, signed-off risk tier and redaction policy, staging Datadog org with a least-privilege service account. Not delegable to an agent.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F9E97"/>
                </a:solidFill>
                <a:latin typeface="Calibri"/>
              </a:rPr>
              <a:t>07 — SEQUENCING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6213E"/>
                </a:solidFill>
                <a:latin typeface="Calibri"/>
              </a:rPr>
              <a:t>Five phases, each with a named human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592A6"/>
                </a:solidFill>
                <a:latin typeface="Calibri"/>
              </a:rPr>
              <a:t>14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592A6"/>
                </a:solidFill>
                <a:latin typeface="Calibri"/>
              </a:rPr>
              <a:t>GenAI Project Observability — Technical Deep-Dive  |  MOCK / SYNTHETIC DATA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508760"/>
          <a:ext cx="11155679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85385"/>
                <a:gridCol w="3681374"/>
                <a:gridCol w="2788920"/>
              </a:tblGrid>
              <a:tr h="535577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 marT="50800" marB="50800" anchor="ctr"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Agent-executable?</a:t>
                      </a:r>
                    </a:p>
                  </a:txBody>
                  <a:tcPr marT="50800" marB="50800" anchor="ctr"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Roadmap horizon</a:t>
                      </a:r>
                    </a:p>
                  </a:txBody>
                  <a:tcPr marT="50800" marB="50800" anchor="ctr">
                    <a:solidFill>
                      <a:srgbClr val="16213E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0 — Preflight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No (human-only)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Weeks 0–2 prerequisite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 — Instrumentation scaffold</a:t>
                      </a:r>
                    </a:p>
                  </a:txBody>
                  <a:tcPr marT="38100" marB="38100" marL="76200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Yes, sandboxed</a:t>
                      </a:r>
                    </a:p>
                  </a:txBody>
                  <a:tcPr marT="38100" marB="38100" marL="76200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Weeks 0–2</a:t>
                      </a:r>
                    </a:p>
                  </a:txBody>
                  <a:tcPr marT="38100" marB="38100" marL="76200" anchor="ctr">
                    <a:solidFill>
                      <a:srgbClr val="F6F7F9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2 — Ingestion wiring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Yes, scoped credentials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Weeks 0–2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3 — Dashboards / monitors / SLOs</a:t>
                      </a:r>
                    </a:p>
                  </a:txBody>
                  <a:tcPr marT="38100" marB="38100" marL="76200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Yes, staging-only until gated</a:t>
                      </a:r>
                    </a:p>
                  </a:txBody>
                  <a:tcPr marT="38100" marB="38100" marL="76200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Weeks 3–6</a:t>
                      </a:r>
                    </a:p>
                  </a:txBody>
                  <a:tcPr marT="38100" marB="38100" marL="76200" anchor="ctr">
                    <a:solidFill>
                      <a:srgbClr val="F6F7F9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4 — Governance / eval harness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Partially (plumbing only)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Weeks 7–10</a:t>
                      </a:r>
                    </a:p>
                  </a:txBody>
                  <a:tcPr marT="38100" marB="38100" marL="76200" anchor="ctr">
                    <a:solidFill>
                      <a:srgbClr val="FFFFFF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5 — Scale / reusability</a:t>
                      </a:r>
                    </a:p>
                  </a:txBody>
                  <a:tcPr marT="38100" marB="38100" marL="76200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Yes, with acceptance test</a:t>
                      </a:r>
                    </a:p>
                  </a:txBody>
                  <a:tcPr marT="38100" marB="38100" marL="76200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Weeks 11–13</a:t>
                      </a:r>
                    </a:p>
                  </a:txBody>
                  <a:tcPr marT="38100" marB="38100" marL="76200" anchor="ctr"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486400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3E5C76"/>
                </a:solidFill>
                <a:latin typeface="Calibri"/>
              </a:rPr>
              <a:t>Each phase's prompt-ready task and human gate are written out in full in training/reading/06-claude-code-production-build-plan.md.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F9E97"/>
                </a:solidFill>
                <a:latin typeface="Calibri"/>
              </a:rPr>
              <a:t>07 — HARD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6213E"/>
                </a:solidFill>
                <a:latin typeface="Calibri"/>
              </a:rPr>
              <a:t>What an agent should never be handed unsupervised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592A6"/>
                </a:solidFill>
                <a:latin typeface="Calibri"/>
              </a:rPr>
              <a:t>15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592A6"/>
                </a:solidFill>
                <a:latin typeface="Calibri"/>
              </a:rPr>
              <a:t>GenAI Project Observability — Technical Deep-Dive  |  MOCK / SYNTHETIC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55680" cy="4434840"/>
          </a:xfrm>
          <a:prstGeom prst="roundRect">
            <a:avLst>
              <a:gd name="adj" fmla="val 5000"/>
            </a:avLst>
          </a:prstGeom>
          <a:solidFill>
            <a:srgbClr val="F7DDDA"/>
          </a:solidFill>
          <a:ln>
            <a:noFill/>
          </a:ln>
          <a:effectLst/>
          <a:effectLst>
            <a:outerShdw blurRad="90000" dist="30000" dir="5400000" rotWithShape="0">
              <a:srgbClr val="1621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63040"/>
            <a:ext cx="91440" cy="4434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10424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16213E"/>
                </a:solidFill>
                <a:latin typeface="Calibri"/>
              </a:rPr>
              <a:t>Direct write access to production</a:t>
            </a:r>
            <a:r>
              <a:rPr sz="1350" b="0" i="0">
                <a:solidFill>
                  <a:srgbClr val="222222"/>
                </a:solidFill>
                <a:latin typeface="Calibri"/>
              </a:rPr>
              <a:t> — Datadog org, on-call rotation, or alert-routing config; always a reviewed PR, never a direct autonomous API call.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34640"/>
            <a:ext cx="10424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16213E"/>
                </a:solidFill>
                <a:latin typeface="Calibri"/>
              </a:rPr>
              <a:t>Money-movement tooling credentials</a:t>
            </a:r>
            <a:r>
              <a:rPr sz="1350" b="0" i="0">
                <a:solidFill>
                  <a:srgbClr val="222222"/>
                </a:solidFill>
                <a:latin typeface="Calibri"/>
              </a:rPr>
              <a:t> — beyond the sandboxed/staging environment used for testing.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886200"/>
            <a:ext cx="10424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16213E"/>
                </a:solidFill>
                <a:latin typeface="Calibri"/>
              </a:rPr>
              <a:t>The evaluation methodology decision</a:t>
            </a:r>
            <a:r>
              <a:rPr sz="1350" b="0" i="0">
                <a:solidFill>
                  <a:srgbClr val="222222"/>
                </a:solidFill>
                <a:latin typeface="Calibri"/>
              </a:rPr>
              <a:t> — what counts as an acceptable eval or golden-set composition is a Responsible AI/Risk governance call, not an implementation detail.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937760"/>
            <a:ext cx="10424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16213E"/>
                </a:solidFill>
                <a:latin typeface="Calibri"/>
              </a:rPr>
              <a:t>Redaction/retention policy definition</a:t>
            </a:r>
            <a:r>
              <a:rPr sz="1350" b="0" i="0">
                <a:solidFill>
                  <a:srgbClr val="222222"/>
                </a:solidFill>
                <a:latin typeface="Calibri"/>
              </a:rPr>
              <a:t> — the agent implements a policy humans already decided; it should not decide what's sensitive.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F9E97"/>
                </a:solidFill>
                <a:latin typeface="Calibri"/>
              </a:rPr>
              <a:t>07 — CLOSING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6213E"/>
                </a:solidFill>
                <a:latin typeface="Calibri"/>
              </a:rPr>
              <a:t>Sequencing summary &amp;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5288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592A6"/>
                </a:solidFill>
                <a:latin typeface="Calibri"/>
              </a:rPr>
              <a:t>16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592A6"/>
                </a:solidFill>
                <a:latin typeface="Calibri"/>
              </a:rPr>
              <a:t>GenAI Project Observability — Technical Deep-Dive  |  MOCK / SYNTHETIC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16213E"/>
                </a:solidFill>
                <a:latin typeface="Calibri"/>
              </a:rPr>
              <a:t>A phased build converts this mock into a governed, production-grade observability platform — without ever asking an agent to make a policy decision on its 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468880"/>
            <a:ext cx="1115568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 marL="228600" indent="-228600">
              <a:lnSpc>
                <a:spcPct val="120000"/>
              </a:lnSpc>
              <a:spcAft>
                <a:spcPts val="1200"/>
              </a:spcAft>
              <a:buFont typeface="Arial"/>
              <a:buChar char="•"/>
            </a:pPr>
            <a:r>
              <a:rPr sz="1350">
                <a:solidFill>
                  <a:srgbClr val="222222"/>
                </a:solidFill>
                <a:latin typeface="Calibri"/>
              </a:rPr>
              <a:t>Phases 1–3 (instrumentation, ingestion, dashboards) are the highest-leverage, lowest-risk agent work</a:t>
            </a:r>
          </a:p>
          <a:p>
            <a:pPr algn="l" marL="228600" indent="-228600">
              <a:lnSpc>
                <a:spcPct val="120000"/>
              </a:lnSpc>
              <a:spcAft>
                <a:spcPts val="1200"/>
              </a:spcAft>
              <a:buFont typeface="Arial"/>
              <a:buChar char="•"/>
            </a:pPr>
            <a:r>
              <a:rPr sz="1350">
                <a:solidFill>
                  <a:srgbClr val="222222"/>
                </a:solidFill>
                <a:latin typeface="Calibri"/>
              </a:rPr>
              <a:t>Phase 4 (governance/eval harness) is where human sign-off is non-negotiable</a:t>
            </a:r>
          </a:p>
          <a:p>
            <a:pPr algn="l" marL="228600" indent="-228600">
              <a:lnSpc>
                <a:spcPct val="120000"/>
              </a:lnSpc>
              <a:spcAft>
                <a:spcPts val="1200"/>
              </a:spcAft>
              <a:buFont typeface="Arial"/>
              <a:buChar char="•"/>
            </a:pPr>
            <a:r>
              <a:rPr sz="1350">
                <a:solidFill>
                  <a:srgbClr val="222222"/>
                </a:solidFill>
                <a:latin typeface="Calibri"/>
              </a:rPr>
              <a:t>Phase 5 (scale) only starts once a second use case can genuinely self-serve from the checklist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486400"/>
            <a:ext cx="11155680" cy="822960"/>
          </a:xfrm>
          <a:prstGeom prst="roundRect">
            <a:avLst>
              <a:gd name="adj" fmla="val 8000"/>
            </a:avLst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486400"/>
            <a:ext cx="10607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FFFFFF"/>
                </a:solidFill>
                <a:latin typeface="Calibri"/>
              </a:rPr>
              <a:t>Sources: AI Observability Metrics Catalogue v1.0  •  AI Observability — Datadog Implementation Addendum  •  docs/datadog-mapping.md  •  docs/roadmap.md  •  training/reading/06-claude-code-production-build-plan.md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