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49"/>
    <p:restoredTop sz="94643"/>
  </p:normalViewPr>
  <p:slideViewPr>
    <p:cSldViewPr snapToGrid="0" snapToObjects="1">
      <p:cViewPr varScale="1">
        <p:scale>
          <a:sx n="204" d="100"/>
          <a:sy n="204" d="100"/>
        </p:scale>
        <p:origin x="48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Poppin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Poppin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Poppin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Poppin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Poppin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Poppi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Picture 900" descr="GenAIObsPPT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79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5FA8CC"/>
                </a:solidFill>
                <a:latin typeface="Calibri"/>
              </a:rPr>
              <a:t>MOCK / PORTFOLIO REFERENCE — TECHNICAL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9601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Building the Real 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7D3D8"/>
                </a:solidFill>
                <a:latin typeface="Calibri"/>
              </a:rPr>
              <a:t>Build requirements, the Datadog implementation reference, and a phased, gated plan for an agent (or engineering team) to build the production infrastructure this demo mocks.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4937760"/>
            <a:ext cx="5339846" cy="457200"/>
          </a:xfrm>
          <a:prstGeom prst="roundRect">
            <a:avLst>
              <a:gd name="adj" fmla="val 50000"/>
            </a:avLst>
          </a:prstGeom>
          <a:solidFill>
            <a:srgbClr val="3F4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7803" y="5070564"/>
            <a:ext cx="5865939" cy="1915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 dirty="0">
                <a:solidFill>
                  <a:srgbClr val="E3A253"/>
                </a:solidFill>
                <a:latin typeface="Calibri"/>
              </a:rPr>
              <a:t>MOCK / SYNTHETIC DATA  —  NOT CONNECTED TO ANY LIVE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7BEC2"/>
                </a:solidFill>
                <a:latin typeface="Calibri"/>
              </a:rPr>
              <a:t>Technical Deep-Dive  |  2 July 2026</a:t>
            </a:r>
          </a:p>
        </p:txBody>
      </p:sp>
      <p:pic>
        <p:nvPicPr>
          <p:cNvPr id="902" name="Picture 901" descr="keyline_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36" y="182880"/>
            <a:ext cx="1331517" cy="1331517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1847088" y="58521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</a:rPr>
              <a:t>Getamazednow AI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1847088" y="96012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8A17B"/>
                </a:solidFill>
                <a:latin typeface="Inter"/>
              </a:rPr>
              <a:t>A Getamazednow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5FA8CC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084832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A363B"/>
                </a:solidFill>
                <a:latin typeface="Calibri"/>
              </a:rPr>
              <a:t>Build requirements &amp;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54203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What has to be true before a real pilot workflow is instrumented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5FA8CC"/>
                </a:solidFill>
                <a:latin typeface="Calibri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319272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A363B"/>
                </a:solidFill>
                <a:latin typeface="Calibri"/>
              </a:rPr>
              <a:t>Datadog implementation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77647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APIs, SDKs, metric namespace, dashboards, monitors, SLOs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8912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F6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38912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5FA8CC"/>
                </a:solidFill>
                <a:latin typeface="Calibri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553712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A363B"/>
                </a:solidFill>
                <a:latin typeface="Calibri"/>
              </a:rPr>
              <a:t>If Claude Code were to build 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5010912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45E63"/>
                </a:solidFill>
                <a:latin typeface="Calibri"/>
              </a:rPr>
              <a:t>A phased, gated plan — with explicit human checkpoints</a:t>
            </a:r>
          </a:p>
        </p:txBody>
      </p:sp>
      <p:pic>
        <p:nvPicPr>
          <p:cNvPr id="18" name="Picture 17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Build requirements &amp;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What has to be true before this mock becomes a live, governed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03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05 —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The synthetic schema is the target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pic>
        <p:nvPicPr>
          <p:cNvPr id="6" name="Picture 5" descr="03-mock-to-real-mi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153" y="1371600"/>
            <a:ext cx="7551214" cy="4937760"/>
          </a:xfrm>
          <a:prstGeom prst="rect">
            <a:avLst/>
          </a:prstGeom>
        </p:spPr>
      </p:pic>
      <p:pic>
        <p:nvPicPr>
          <p:cNvPr id="7" name="Picture 6" descr="mon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05 — BEFORE THE FIRST REAL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Organisational &amp; technical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FA8CC"/>
                </a:solidFill>
                <a:latin typeface="Calibri"/>
              </a:rPr>
              <a:t>ORGANISATIONAL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44068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13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Named owner per accountability layer, agreed before instrumenting live traffic</a:t>
            </a:r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Risk tier definitions for the pilot workflow (low/medium/high — drives SLO targets and approvals)</a:t>
            </a:r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Redaction/classification/retention policy signed off by data governance and legal</a:t>
            </a:r>
          </a:p>
          <a:p>
            <a:pPr marL="228600" indent="-228600" algn="l">
              <a:lnSpc>
                <a:spcPct val="120000"/>
              </a:lnSpc>
              <a:spcAft>
                <a:spcPts val="13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Executive sponsor for the cost-avoidance and ROI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FA8CC"/>
                </a:solidFill>
                <a:latin typeface="Calibri"/>
              </a:rP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44068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Datadog org with LLM Observability + APM entitlements, admin access for dashboards-as-code import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Instrumentation choice: Datadog LLM/Agent Obs SDK vs. OpenTelemetry GenAI semantic conventions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Approved model/tool registry — sanctioned providers, models, tools and their risk classifications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Tag taxonomy agreed before scaling past the pilot (high-cardinality raw IDs get expensive fast)</a:t>
            </a:r>
          </a:p>
          <a:p>
            <a:pPr marL="228600" indent="-228600" algn="l">
              <a:lnSpc>
                <a:spcPct val="120000"/>
              </a:lnSpc>
              <a:spcAft>
                <a:spcPts val="1000"/>
              </a:spcAft>
              <a:buFont typeface="Poppins"/>
              <a:buChar char="•"/>
            </a:pPr>
            <a:r>
              <a:rPr sz="1250">
                <a:solidFill>
                  <a:srgbClr val="2C3234"/>
                </a:solidFill>
                <a:latin typeface="Calibri"/>
              </a:rPr>
              <a:t>On-call/alert-routing target to wire datadog/monitors and datadog/slos to</a:t>
            </a:r>
          </a:p>
        </p:txBody>
      </p:sp>
      <p:pic>
        <p:nvPicPr>
          <p:cNvPr id="10" name="Picture 9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05 — THE WEEKS 7–10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The one capability gap that matters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55680" cy="2880360"/>
          </a:xfrm>
          <a:prstGeom prst="roundRect">
            <a:avLst>
              <a:gd name="adj" fmla="val 5000"/>
            </a:avLst>
          </a:prstGeom>
          <a:solidFill>
            <a:srgbClr val="FC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91440" cy="2880360"/>
          </a:xfrm>
          <a:prstGeom prst="rect">
            <a:avLst/>
          </a:prstGeom>
          <a:solidFill>
            <a:srgbClr val="E3A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A363B"/>
                </a:solidFill>
                <a:latin typeface="Calibri"/>
              </a:rPr>
              <a:t>A real evaluation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42416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C3234"/>
                </a:solidFill>
                <a:latin typeface="Calibri"/>
              </a:rPr>
              <a:t>An LLM-as-judge pipeline, golden test sets, and a human-review sampling process. This is the single biggest capability gap between this demo and a defensible production system — groundedness, citation-accuracy, hallucination and regression scores are currently synthetic. Sensitive Data Scanner/DLP integration and a human-override concept in the product surface are the other two gaps in this phase.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11556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A363B"/>
                </a:solidFill>
                <a:latin typeface="Calibri"/>
              </a:rPr>
              <a:t>This is a governance decision, not just an engineering task: Responsible AI/Risk must sign off on the evaluation methodology before its output gates any release. An agent can scaffold the plumbing to call an evaluation service — it should not select the methodology or curate golden sets.</a:t>
            </a:r>
          </a:p>
        </p:txBody>
      </p:sp>
      <p:pic>
        <p:nvPicPr>
          <p:cNvPr id="11" name="Picture 10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Datadog implementation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APIs, SDKs, the metric namespace, and the dashboards/monitors/SLOs already drafted in this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07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06 — 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Which SDK / API to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7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2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2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When to use it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Datadog LLM Observability SDK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Supported frameworks/providers (OpenAI, Anthropic, Bedrock, Azure OpenAI, LangChain, LangGraph)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Datadog Agent Observability SDK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Custom agent orchestration — planning, tool calls, loop spans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OpenTelemetry GenAI semantic conventions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Cross-vendor portability preferred, or unsupported frameworks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Manual spans / custom instrumentation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Anything auto-instrumentation doesn't cover (proprietary orchestration)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98348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545E63"/>
                </a:solidFill>
                <a:latin typeface="Calibri"/>
              </a:rPr>
              <a:t>The synthetic span taxonomy in this repo (workflow / llm / retrieval / tool / guardrail) mirrors the addendum's recommended taxonomy — migrating the generator's field names into either SDK or OTel is a direct mapping exercise, not a redesign.</a:t>
            </a:r>
          </a:p>
        </p:txBody>
      </p:sp>
      <p:pic>
        <p:nvPicPr>
          <p:cNvPr id="8" name="Picture 7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06 — LAYERED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Target Datadog 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pic>
        <p:nvPicPr>
          <p:cNvPr id="6" name="Picture 5" descr="06-datadog-implementation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29" y="1371600"/>
            <a:ext cx="6667862" cy="4937760"/>
          </a:xfrm>
          <a:prstGeom prst="rect">
            <a:avLst/>
          </a:prstGeom>
        </p:spPr>
      </p:pic>
      <p:pic>
        <p:nvPicPr>
          <p:cNvPr id="7" name="Picture 6" descr="mon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06 — METRIC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genai.* — a starting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63040"/>
          <a:ext cx="1115567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9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Key tags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genai.workflow.count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outcome, use_case, tenant, channel, risk_tier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genai.workflow.cost_usd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use_case, tenant, cost_category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genai.llm.call.count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provider, model, status, finish_reason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genai.llm.tokens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provider, model, token_type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genai.tool.call.count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tool_name, risk_class, status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genai.guardrail.decision.count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policy_name, allow_block_escalate, reason_code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genai.eval.groundedness_score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use_case — from evaluation harness, not raw traces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genai.release.event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event_type, artefact, from_version, to_version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A97A0"/>
                </a:solidFill>
                <a:latin typeface="Calibri"/>
              </a:rPr>
              <a:t>Full 20-metric namespace in docs/datadog-mapping.md and training/reading/05-datadog-implementation-reference.md.</a:t>
            </a:r>
          </a:p>
        </p:txBody>
      </p:sp>
      <p:pic>
        <p:nvPicPr>
          <p:cNvPr id="8" name="Picture 7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06 — DASHBOARDS-AS-CODE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Import path for dashboards, monitors &amp; SLOs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7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3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Artefact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Import path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datadog/dashboards/*.json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7 templates, one per dashboard, status: implemented_in_demo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Dashboards API or datadog_dashboard Terraform resource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datadog/monitors/*.json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5 illustrative alerts (success rate, rate-limit, agent loop, high-risk-no-approval, data egress)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Monitors API or datadog_monitor Terraform resource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datadog/slos/*.json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SLO objects referencing the monitors as time-slices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234"/>
                          </a:solidFill>
                          <a:latin typeface="Calibri"/>
                        </a:rPr>
                        <a:t>SLO API, referencing monitor IDs above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A363B"/>
                </a:solidFill>
                <a:latin typeface="Calibri"/>
              </a:rPr>
              <a:t>Every monitor's notify target is a placeholder (@pagerduty-genai-oncall, @security-oncall). Re-pointing these at a real on-call rotation should be its own reviewed change — never bundled into the initial dashboards-as-code import.</a:t>
            </a:r>
          </a:p>
        </p:txBody>
      </p:sp>
      <p:pic>
        <p:nvPicPr>
          <p:cNvPr id="8" name="Picture 7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enAIObsPPT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377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5FA8CC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If Claude Code were to build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7D3D8"/>
                </a:solidFill>
                <a:latin typeface="Calibri"/>
              </a:rPr>
              <a:t>A phased, gated plan — scoped so an agent never holds live credentials or governance decisions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B7BEC2"/>
                </a:solidFill>
                <a:latin typeface="Calibri"/>
              </a:rPr>
              <a:t>12 / 16</a:t>
            </a:r>
          </a:p>
        </p:txBody>
      </p:sp>
      <p:pic>
        <p:nvPicPr>
          <p:cNvPr id="8" name="Picture 7" descr="mon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19088"/>
            <a:ext cx="201168" cy="201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" y="6409944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A8A17B"/>
                </a:solidFill>
                <a:latin typeface="Poppins"/>
              </a:rPr>
              <a:t>Getamazednow AI</a:t>
            </a:r>
            <a:r>
              <a:rPr sz="850" b="0">
                <a:solidFill>
                  <a:srgbClr val="A8A17B"/>
                </a:solidFill>
                <a:latin typeface="Inter"/>
              </a:rPr>
              <a:t>   ·   A Getamazednow Company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07 — OPERATING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Ground rules before any agent touches this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1800"/>
              </a:spcAft>
              <a:buFont typeface="Poppins"/>
              <a:buChar char="•"/>
            </a:pPr>
            <a:r>
              <a:rPr sz="1400" b="1">
                <a:solidFill>
                  <a:srgbClr val="2C3234"/>
                </a:solidFill>
                <a:latin typeface="Calibri"/>
              </a:rPr>
              <a:t>The synthetic schema is the target contract. </a:t>
            </a:r>
            <a:r>
              <a:rPr sz="1400">
                <a:solidFill>
                  <a:srgbClr val="2C3234"/>
                </a:solidFill>
                <a:latin typeface="Calibri"/>
              </a:rPr>
              <a:t>Don't redesign the telemetry schema; re-point it.</a:t>
            </a:r>
          </a:p>
          <a:p>
            <a:pPr marL="228600" indent="-228600" algn="l">
              <a:lnSpc>
                <a:spcPct val="120000"/>
              </a:lnSpc>
              <a:spcAft>
                <a:spcPts val="1800"/>
              </a:spcAft>
              <a:buFont typeface="Poppins"/>
              <a:buChar char="•"/>
            </a:pPr>
            <a:r>
              <a:rPr sz="1400" b="1">
                <a:solidFill>
                  <a:srgbClr val="2C3234"/>
                </a:solidFill>
                <a:latin typeface="Calibri"/>
              </a:rPr>
              <a:t>No live credentials in the agent's default context. </a:t>
            </a:r>
            <a:r>
              <a:rPr sz="1400">
                <a:solidFill>
                  <a:srgbClr val="2C3234"/>
                </a:solidFill>
                <a:latin typeface="Calibri"/>
              </a:rPr>
              <a:t>API keys and org access supplied per-phase, never committed.</a:t>
            </a:r>
          </a:p>
          <a:p>
            <a:pPr marL="228600" indent="-228600" algn="l">
              <a:lnSpc>
                <a:spcPct val="120000"/>
              </a:lnSpc>
              <a:spcAft>
                <a:spcPts val="1800"/>
              </a:spcAft>
              <a:buFont typeface="Poppins"/>
              <a:buChar char="•"/>
            </a:pPr>
            <a:r>
              <a:rPr sz="1400" b="1">
                <a:solidFill>
                  <a:srgbClr val="2C3234"/>
                </a:solidFill>
                <a:latin typeface="Calibri"/>
              </a:rPr>
              <a:t>Every phase ends with a human review gate, </a:t>
            </a:r>
            <a:r>
              <a:rPr sz="1400">
                <a:solidFill>
                  <a:srgbClr val="2C3234"/>
                </a:solidFill>
                <a:latin typeface="Calibri"/>
              </a:rPr>
              <a:t>not a merge-and-move-on — observability tooling operationalises controls, it doesn't replace ownership.</a:t>
            </a:r>
          </a:p>
          <a:p>
            <a:pPr marL="228600" indent="-228600" algn="l">
              <a:lnSpc>
                <a:spcPct val="120000"/>
              </a:lnSpc>
              <a:spcAft>
                <a:spcPts val="1800"/>
              </a:spcAft>
              <a:buFont typeface="Poppins"/>
              <a:buChar char="•"/>
            </a:pPr>
            <a:r>
              <a:rPr sz="1400" b="1">
                <a:solidFill>
                  <a:srgbClr val="2C3234"/>
                </a:solidFill>
                <a:latin typeface="Calibri"/>
              </a:rPr>
              <a:t>Additive, reversible changes. </a:t>
            </a:r>
            <a:r>
              <a:rPr sz="1400">
                <a:solidFill>
                  <a:srgbClr val="2C3234"/>
                </a:solidFill>
                <a:latin typeface="Calibri"/>
              </a:rPr>
              <a:t>Each phase is a mergeable, revertable unit of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492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2A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Phase 0 — Preflight (human-only): named ownership, signed-off risk tier and redaction policy, staging Datadog org with a least-privilege service account. Not delegable to an agent.</a:t>
            </a:r>
          </a:p>
        </p:txBody>
      </p:sp>
      <p:pic>
        <p:nvPicPr>
          <p:cNvPr id="9" name="Picture 8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07 — SEQUENCING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Five phases, each with a named human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7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5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1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Agent-executable?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Roadmap horizon</a:t>
                      </a:r>
                    </a:p>
                  </a:txBody>
                  <a:tcPr marT="50800" marB="50800" anchor="ctr">
                    <a:solidFill>
                      <a:srgbClr val="2A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0 — Preflight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No (human-only)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Weeks 0–2 prerequisite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1 — Instrumentation scaffold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Yes, sandboxed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Weeks 0–2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2 — Ingestion wiring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Yes, scoped credentials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Weeks 0–2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3 — Dashboards / monitors / SLOs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Yes, staging-only until gated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Weeks 3–6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4 — Governance / eval harness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Partially (plumbing only)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Weeks 7–10</a:t>
                      </a:r>
                    </a:p>
                  </a:txBody>
                  <a:tcPr marL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5 — Scale / reusability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Yes, with acceptance test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234"/>
                          </a:solidFill>
                          <a:latin typeface="Calibri"/>
                        </a:rPr>
                        <a:t>Weeks 11–13</a:t>
                      </a:r>
                    </a:p>
                  </a:txBody>
                  <a:tcPr marL="76200" marT="38100" marB="38100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45E63"/>
                </a:solidFill>
                <a:latin typeface="Calibri"/>
              </a:rPr>
              <a:t>Each phase's prompt-ready task and human gate are written out in full in training/reading/06-claude-code-production-build-plan.md.</a:t>
            </a:r>
          </a:p>
        </p:txBody>
      </p:sp>
      <p:pic>
        <p:nvPicPr>
          <p:cNvPr id="8" name="Picture 7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07 — HARD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What an agent should never be handed unsupervised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55680" cy="4434840"/>
          </a:xfrm>
          <a:prstGeom prst="roundRect">
            <a:avLst>
              <a:gd name="adj" fmla="val 5000"/>
            </a:avLst>
          </a:prstGeom>
          <a:solidFill>
            <a:srgbClr val="F7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91440" cy="4434840"/>
          </a:xfrm>
          <a:prstGeom prst="rect">
            <a:avLst/>
          </a:prstGeom>
          <a:solidFill>
            <a:srgbClr val="A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A363B"/>
                </a:solidFill>
                <a:latin typeface="Calibri"/>
              </a:rPr>
              <a:t>Direct write access to production</a:t>
            </a:r>
            <a:r>
              <a:rPr sz="1350" b="0" i="0">
                <a:solidFill>
                  <a:srgbClr val="2C3234"/>
                </a:solidFill>
                <a:latin typeface="Calibri"/>
              </a:rPr>
              <a:t> — Datadog org, on-call rotation, or alert-routing config; always a reviewed PR, never a direct autonomous API call.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A363B"/>
                </a:solidFill>
                <a:latin typeface="Calibri"/>
              </a:rPr>
              <a:t>Money-movement tooling credentials</a:t>
            </a:r>
            <a:r>
              <a:rPr sz="1350" b="0" i="0">
                <a:solidFill>
                  <a:srgbClr val="2C3234"/>
                </a:solidFill>
                <a:latin typeface="Calibri"/>
              </a:rPr>
              <a:t> — beyond the sandboxed/staging environment used for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A363B"/>
                </a:solidFill>
                <a:latin typeface="Calibri"/>
              </a:rPr>
              <a:t>The evaluation methodology decision</a:t>
            </a:r>
            <a:r>
              <a:rPr sz="1350" b="0" i="0">
                <a:solidFill>
                  <a:srgbClr val="2C3234"/>
                </a:solidFill>
                <a:latin typeface="Calibri"/>
              </a:rPr>
              <a:t> — what counts as an acceptable eval or golden-set composition is a Responsible AI/Risk governance call, not an implementation detail.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2A363B"/>
                </a:solidFill>
                <a:latin typeface="Calibri"/>
              </a:rPr>
              <a:t>Redaction/retention policy definition</a:t>
            </a:r>
            <a:r>
              <a:rPr sz="1350" b="0" i="0">
                <a:solidFill>
                  <a:srgbClr val="2C3234"/>
                </a:solidFill>
                <a:latin typeface="Calibri"/>
              </a:rPr>
              <a:t> — the agent implements a policy humans already decided; it should not decide what's sensitive.</a:t>
            </a:r>
          </a:p>
        </p:txBody>
      </p:sp>
      <p:pic>
        <p:nvPicPr>
          <p:cNvPr id="12" name="Picture 11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FA8CC"/>
                </a:solidFill>
                <a:latin typeface="Calibri"/>
              </a:rPr>
              <a:t>07 —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363B"/>
                </a:solidFill>
                <a:latin typeface="Calibri"/>
              </a:rPr>
              <a:t>Sequencing summary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7A0"/>
                </a:solidFill>
                <a:latin typeface="Calibri"/>
              </a:rP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00" b="1">
                <a:latin typeface="Poppins"/>
              </a:rPr>
              <a:t>Getamazednow AI  ·  A Getamazednow Company        </a:t>
            </a:r>
            <a:r>
              <a:rPr sz="900" b="0" i="0">
                <a:solidFill>
                  <a:srgbClr val="8A97A0"/>
                </a:solidFill>
                <a:latin typeface="Calibri"/>
              </a:rPr>
              <a:t>GenAI Project Observability — Technical Deep-Dive  |  MOCK /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A363B"/>
                </a:solidFill>
                <a:latin typeface="Calibri"/>
              </a:rPr>
              <a:t>A phased build converts this mock into a governed, production-grade observability platform — without ever asking an agent to make a policy decision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115568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28600" indent="-228600" algn="l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350">
                <a:solidFill>
                  <a:srgbClr val="2C3234"/>
                </a:solidFill>
                <a:latin typeface="Calibri"/>
              </a:rPr>
              <a:t>Phases 1–3 (instrumentation, ingestion, dashboards) are the highest-leverage, lowest-risk agent work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350">
                <a:solidFill>
                  <a:srgbClr val="2C3234"/>
                </a:solidFill>
                <a:latin typeface="Calibri"/>
              </a:rPr>
              <a:t>Phase 4 (governance/eval harness) is where human sign-off is non-negotiable</a:t>
            </a:r>
          </a:p>
          <a:p>
            <a:pPr marL="228600" indent="-228600" algn="l">
              <a:lnSpc>
                <a:spcPct val="120000"/>
              </a:lnSpc>
              <a:spcAft>
                <a:spcPts val="1200"/>
              </a:spcAft>
              <a:buFont typeface="Poppins"/>
              <a:buChar char="•"/>
            </a:pPr>
            <a:r>
              <a:rPr sz="1350">
                <a:solidFill>
                  <a:srgbClr val="2C3234"/>
                </a:solidFill>
                <a:latin typeface="Calibri"/>
              </a:rPr>
              <a:t>Phase 5 (scale) only starts once a second use case can genuinely self-serve from the checklist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48640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2A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Sources: AI Observability Metrics Catalogue v1.0  •  AI Observability — Datadog Implementation Addendum  •  docs/datadog-mapping.md  •  docs/roadmap.md  •  training/reading/06-claude-code-production-build-plan.md</a:t>
            </a:r>
          </a:p>
        </p:txBody>
      </p:sp>
      <p:pic>
        <p:nvPicPr>
          <p:cNvPr id="10" name="Picture 9" descr="mono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288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DA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Poppins"/>
        <a:font script="Hebr" typeface="Poppi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oppi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1614</Words>
  <Application>Microsoft Macintosh PowerPoint</Application>
  <PresentationFormat>Widescreen</PresentationFormat>
  <Paragraphs>181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Duane Gomes</cp:lastModifiedBy>
  <cp:revision>2</cp:revision>
  <dcterms:created xsi:type="dcterms:W3CDTF">2013-01-27T09:14:16Z</dcterms:created>
  <dcterms:modified xsi:type="dcterms:W3CDTF">2026-07-15T06:51:44Z</dcterms:modified>
  <cp:category/>
</cp:coreProperties>
</file>