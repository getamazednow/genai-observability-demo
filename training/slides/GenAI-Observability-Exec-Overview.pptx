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2103120"/>
            <a:ext cx="5943600" cy="59436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3108960"/>
            <a:ext cx="3291840" cy="3291840"/>
          </a:xfrm>
          <a:prstGeom prst="ellipse">
            <a:avLst/>
          </a:prstGeom>
          <a:solidFill>
            <a:srgbClr val="1F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9E97"/>
                </a:solidFill>
                <a:latin typeface="Calibri"/>
              </a:rPr>
              <a:t>MOCK / PORTFOLIO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601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GenAI Project Observability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412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C9D6EC"/>
                </a:solidFill>
                <a:latin typeface="Calibri"/>
              </a:rPr>
              <a:t>A reference architecture and demo dashboard for observing agentic Gen AI workflows in production — built for architecture-board, risk-committee and Community of Practice review ahead of a real Datadog implementation.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E0982A"/>
                </a:solidFill>
                <a:latin typeface="Calibri"/>
              </a:rPr>
              <a:t>MOCK / SYNTHETIC DATA  —  NOT CONNECTED TO ANY LIVE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9BC4"/>
                </a:solidFill>
                <a:latin typeface="Calibri"/>
              </a:rPr>
              <a:t>Executive Overview  |  2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9E97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5623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6213E"/>
                </a:solidFill>
                <a:latin typeface="Calibri"/>
              </a:rPr>
              <a:t>What this demo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226771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The problem it solves, the scenario, the headline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9E97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95351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6213E"/>
                </a:solidFill>
                <a:latin typeface="Calibri"/>
              </a:rPr>
              <a:t>How to use the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3649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A 7-tab tour built for a live walkthrough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9E97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05079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6213E"/>
                </a:solidFill>
                <a:latin typeface="Calibri"/>
              </a:rPr>
              <a:t>Architecture, caveats &amp;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46227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What's real, what's mocked, and why — stated up front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2920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9E9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20" y="514807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6213E"/>
                </a:solidFill>
                <a:latin typeface="Calibri"/>
              </a:rPr>
              <a:t>Roadmap &amp; next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55955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The 90-day path from this demo to a live 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this demo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Why conventional APM misses agentic Gen AI failure modes — and what this repo shows instead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01 —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A “successful” response can still hide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E5C76"/>
                </a:solidFill>
                <a:latin typeface="Calibri"/>
              </a:rPr>
              <a:t>A Gen AI agent can return an HTTP 200 and still have failed. Conventional APM misses what matters most: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11680"/>
          <a:ext cx="1115567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9158"/>
                <a:gridCol w="6916521"/>
              </a:tblGrid>
              <a:tr h="6766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Conventional APM sees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Agentic Gen AI actually needs to catch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Request succeeded (200 OK)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Was the business outcome achieved, or did the agent produce a wrong or ungrounded answer?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Latency within SLA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Was cost within budget — did the workflow quietly burn 10x the expected tokens?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No application errors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Did a prompt-injection attempt bypass a guardrail and reach a money-moving tool?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Server didn't crash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Did an agent loop fan out into 40 tool calls before anyone noticed?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16213E"/>
                </a:solidFill>
                <a:latin typeface="Calibri"/>
              </a:rPr>
              <a:t>This is the gap the two source documents address — cost, reliability, performance, agent behaviour, security and responsible-AI risk, correlated by trace, in one observability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01 — THE DEMO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Order Support &amp; Returns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E5C76"/>
                </a:solidFill>
                <a:latin typeface="Calibri"/>
              </a:rPr>
              <a:t>An agentic retail customer-service workflow — order status, returns, refunds, loyalty credits, address changes — across three storefront brands, over a synthetic 30-day window (1–30 June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640080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Cost at scale — </a:t>
            </a:r>
            <a:r>
              <a:rPr sz="1350">
                <a:solidFill>
                  <a:srgbClr val="222222"/>
                </a:solidFill>
                <a:latin typeface="Calibri"/>
              </a:rPr>
              <a:t>thousands of workflows a month, real token/tool cost economics.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Tool-driven side effects — </a:t>
            </a:r>
            <a:r>
              <a:rPr sz="1350">
                <a:solidFill>
                  <a:srgbClr val="222222"/>
                </a:solidFill>
                <a:latin typeface="Calibri"/>
              </a:rPr>
              <a:t>refunds move money; this is not a read-only chatbot.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A believable attack surface — </a:t>
            </a:r>
            <a:r>
              <a:rPr sz="1350">
                <a:solidFill>
                  <a:srgbClr val="222222"/>
                </a:solidFill>
                <a:latin typeface="Calibri"/>
              </a:rPr>
              <a:t>prompt injection against a refund_issue tool is realistic and high-stakes.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17320"/>
            <a:ext cx="4343400" cy="448056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6459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9E97"/>
                </a:solidFill>
                <a:latin typeface="Calibri"/>
              </a:rPr>
              <a:t>TWO SOURCE 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057400"/>
            <a:ext cx="3840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AI Observability Metrics Catalogue for Agentic LLM Workflows (v1.0)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— the what to measure and govern baseline: ~150 metrics across 13 dimensions.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65760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AI Observability — Datadog Implementation Addendum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— the how to implement it companion: telemetry contract, 7-dashboard pack, SLOs, 90-day roadmap.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01 — SEEDED FOR A REASON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Three storylines, deliberately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11880" cy="54864"/>
          </a:xfrm>
          <a:prstGeom prst="rect">
            <a:avLst/>
          </a:prstGeom>
          <a:solidFill>
            <a:srgbClr val="1F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783080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213E"/>
                </a:solidFill>
                <a:latin typeface="Calibri"/>
              </a:rPr>
              <a:t>REL-2026-0608 / 0609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58568"/>
            <a:ext cx="320954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3E5C76"/>
                </a:solidFill>
                <a:latin typeface="Calibri"/>
              </a:rPr>
              <a:t>Prompt v14 → v15 degraded groundedness &amp; citation accuracy — caught by the eval harness, rolled back ~27h later.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611880" cy="54864"/>
          </a:xfrm>
          <a:prstGeom prst="rect">
            <a:avLst/>
          </a:prstGeom>
          <a:solidFill>
            <a:srgbClr val="E09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83080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213E"/>
                </a:solidFill>
                <a:latin typeface="Calibri"/>
              </a:rPr>
              <a:t>INC-2026-0611 (Sev2)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58568"/>
            <a:ext cx="320954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3E5C76"/>
                </a:solidFill>
                <a:latin typeface="Calibri"/>
              </a:rPr>
              <a:t>Prompt-injection cluster targeting the refund_issue tool — guardrail caught 92%, a handful bypassed.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002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00200"/>
            <a:ext cx="361188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783080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213E"/>
                </a:solidFill>
                <a:latin typeface="Calibri"/>
              </a:rPr>
              <a:t>INC-2026-0621 (Sev1)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58568"/>
            <a:ext cx="320954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3E5C76"/>
                </a:solidFill>
                <a:latin typeface="Calibri"/>
              </a:rPr>
              <a:t>Promo traffic surge triggered provider rate-limiting — retries, fallback routing, cost &amp; latency spike.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6636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6213E"/>
                </a:solidFill>
                <a:latin typeface="Calibri"/>
              </a:rPr>
              <a:t>Each incident is a rehearsal for a real production scenario — the dashboards show a diagnosable signal, not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01 — HEADLINE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From the current synthetic 30-day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73152" cy="1920240"/>
          </a:xfrm>
          <a:prstGeom prst="rect">
            <a:avLst/>
          </a:prstGeom>
          <a:solidFill>
            <a:srgbClr val="1F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6213E"/>
                </a:solidFill>
                <a:latin typeface="Calibri"/>
              </a:rPr>
              <a:t>~5,100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E5C76"/>
                </a:solidFill>
                <a:latin typeface="Calibri"/>
              </a:rPr>
              <a:t>Workflows (30 days)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73152" cy="1920240"/>
          </a:xfrm>
          <a:prstGeom prst="rect">
            <a:avLst/>
          </a:prstGeom>
          <a:solidFill>
            <a:srgbClr val="1F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0992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6213E"/>
                </a:solidFill>
                <a:latin typeface="Calibri"/>
              </a:rPr>
              <a:t>~95%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E5C76"/>
                </a:solidFill>
                <a:latin typeface="Calibri"/>
              </a:rPr>
              <a:t>Success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0020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00200"/>
            <a:ext cx="73152" cy="1920240"/>
          </a:xfrm>
          <a:prstGeom prst="rect">
            <a:avLst/>
          </a:prstGeom>
          <a:solidFill>
            <a:srgbClr val="E09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0992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6213E"/>
                </a:solidFill>
                <a:latin typeface="Calibri"/>
              </a:rPr>
              <a:t>~$0.025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E5C76"/>
                </a:solidFill>
                <a:latin typeface="Calibri"/>
              </a:rPr>
              <a:t>Cost per successful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49040"/>
            <a:ext cx="73152" cy="1920240"/>
          </a:xfrm>
          <a:prstGeom prst="rect">
            <a:avLst/>
          </a:prstGeom>
          <a:solidFill>
            <a:srgbClr val="E09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6213E"/>
                </a:solidFill>
                <a:latin typeface="Calibri"/>
              </a:rPr>
              <a:t>~$120 / $150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E5C76"/>
                </a:solidFill>
                <a:latin typeface="Calibri"/>
              </a:rPr>
              <a:t>Monthly AI run-rate vs. budget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490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49040"/>
            <a:ext cx="73152" cy="1920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6213E"/>
                </a:solidFill>
                <a:latin typeface="Calibri"/>
              </a:rPr>
              <a:t>~$31,400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166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E5C76"/>
                </a:solidFill>
                <a:latin typeface="Calibri"/>
              </a:rPr>
              <a:t>Est. monthly cost avoidance*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7490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3749040"/>
            <a:ext cx="73152" cy="1920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85876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6213E"/>
                </a:solidFill>
                <a:latin typeface="Calibri"/>
              </a:rPr>
              <a:t>2 + 1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166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E5C76"/>
                </a:solidFill>
                <a:latin typeface="Calibri"/>
              </a:rPr>
              <a:t>Incidents (1 Sev1, 1 Sev2) + rollback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592A6"/>
                </a:solidFill>
                <a:latin typeface="Calibri"/>
              </a:rPr>
              <a:t>*Illustrative only — assumes a $6.50 fully-loaded cost per human-handled contact, a modelling assumption for this demo, not a sourced benchmark.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How to use the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A 7-tab tour, one dashboard per audience, all reading from a single trace-tree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02 — INFORMATION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7 dashboards, 7 audiences, one trace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pic>
        <p:nvPicPr>
          <p:cNvPr id="6" name="Picture 5" descr="05-dashboard-informa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120" y="1417320"/>
            <a:ext cx="6831279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02 — 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Suggested walkthrough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649224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1. Executive AI Health — </a:t>
            </a:r>
            <a:r>
              <a:rPr sz="1350">
                <a:solidFill>
                  <a:srgbClr val="222222"/>
                </a:solidFill>
                <a:latin typeface="Calibri"/>
              </a:rPr>
              <a:t>set business context and headline numbers.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2. Security &amp; Responsible AI — </a:t>
            </a:r>
            <a:r>
              <a:rPr sz="1350">
                <a:solidFill>
                  <a:srgbClr val="222222"/>
                </a:solidFill>
                <a:latin typeface="Calibri"/>
              </a:rPr>
              <a:t>open the incident spotlight; usually the most attention-grabbing tab.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3. Engineering Operations — </a:t>
            </a:r>
            <a:r>
              <a:rPr sz="1350">
                <a:solidFill>
                  <a:srgbClr val="222222"/>
                </a:solidFill>
                <a:latin typeface="Calibri"/>
              </a:rPr>
              <a:t>the trace waterfall grounds the abstract “trace tree” in a concrete picture.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4. Cost &amp; Capacity — </a:t>
            </a:r>
            <a:r>
              <a:rPr sz="1350">
                <a:solidFill>
                  <a:srgbClr val="222222"/>
                </a:solidFill>
                <a:latin typeface="Calibri"/>
              </a:rPr>
              <a:t>connect the rate-limit incident to a dollar figure.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Arial"/>
              <a:buChar char="•"/>
            </a:pPr>
            <a:r>
              <a:rPr b="1" sz="1350">
                <a:solidFill>
                  <a:srgbClr val="222222"/>
                </a:solidFill>
                <a:latin typeface="Calibri"/>
              </a:rPr>
              <a:t>5. RAG &amp; Grounding or Release &amp; Evaluation — </a:t>
            </a:r>
            <a:r>
              <a:rPr sz="1350">
                <a:solidFill>
                  <a:srgbClr val="222222"/>
                </a:solidFill>
                <a:latin typeface="Calibri"/>
              </a:rPr>
              <a:t>close by flagging the synthetic-eval-harness caveat explicitly.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54480"/>
            <a:ext cx="4343400" cy="438912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783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9E97"/>
                </a:solidFill>
                <a:latin typeface="Calibri"/>
              </a:rPr>
              <a:t>RUNNING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94560"/>
            <a:ext cx="38404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FFFFF"/>
                </a:solidFill>
                <a:latin typeface="Courier New"/>
              </a:rPr>
              <a:t>cd genai-observability-demo/dashboard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FFFFF"/>
                </a:solidFill>
                <a:latin typeface="Courier New"/>
              </a:rPr>
              <a:t>python3 -m http.server 8000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FFFFF"/>
                </a:solidFill>
                <a:latin typeface="Courier New"/>
              </a:rPr>
              <a:t># open http://localhost:8000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4480560"/>
            <a:ext cx="3840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9D6EC"/>
                </a:solidFill>
                <a:latin typeface="Calibri"/>
              </a:rPr>
              <a:t>Static HTML/CSS/JS, Chart.js via CDN. No build step. Every screen carries a “MOCK / SYNTHETIC DATA” pill — keep it visible in any live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Architecture, caveats &amp;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Honesty about scope is the point — what's real, what's mocked, and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03 — CORE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One connected trace tree, not isolated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pic>
        <p:nvPicPr>
          <p:cNvPr id="6" name="Picture 5" descr="01-trace-tre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09" y="1417320"/>
            <a:ext cx="4713062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69480" y="1417320"/>
            <a:ext cx="4389120" cy="48920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6459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E97"/>
                </a:solidFill>
                <a:latin typeface="Calibri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103120"/>
            <a:ext cx="3886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Datadog is the production observability/control plane — not the policy authority. Policy ownership stays with architecture, security, data governance and responsible-AI risk.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The synthetic guardrail spans record policy decisions (allow/block/escalate); they do not implement policy.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E5C76"/>
                </a:solidFill>
                <a:latin typeface="Calibri"/>
              </a:rPr>
              <a:t>This single choice — a connected trace tree — is what makes cross-dimensional correlation possible: the same workflow_id that shows up as a cost line in the Executive tab is the same trace that shows a policy bypass in the Security tab.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03 — READ THE FINE 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The single most important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1155680" cy="3246120"/>
          </a:xfrm>
          <a:prstGeom prst="roundRect">
            <a:avLst>
              <a:gd name="adj" fmla="val 5000"/>
            </a:avLst>
          </a:prstGeom>
          <a:solidFill>
            <a:srgbClr val="FCEBD3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91440" cy="3246120"/>
          </a:xfrm>
          <a:prstGeom prst="rect">
            <a:avLst/>
          </a:prstGeom>
          <a:solidFill>
            <a:srgbClr val="E09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6213E"/>
                </a:solidFill>
                <a:latin typeface="Calibri"/>
              </a:rPr>
              <a:t>Synthetic evaluation-harness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4241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Calibri"/>
              </a:rPr>
              <a:t>Groundedness, citation accuracy, hallucination rate, abstention rate, regression pass rate and golden-set accuracy are all present in the RAG and Release dashboards. They are generated as a synthetic daily series, independent of the raw workflow/LLM/tool/retrieval spans — deliberately, because that mirrors exactly how a real implementation works: evals run on a schedule against sampled traffic, not inline on every request.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6213E"/>
                </a:solidFill>
                <a:latin typeface="Calibri"/>
              </a:rPr>
              <a:t>A real eval harness (LLM-as-judge, golden sets, human review sampling) is still required to produce these numbers for real — scoped into Weeks 7–10 of the roadmap. Presenting this caveat up front builds credibility with a technical audience; burying it costs credibility later.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The 90-day path from this mock demo to a live, governed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04 — 90-DAY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Foundation → Operate → Govern →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pic>
        <p:nvPicPr>
          <p:cNvPr id="6" name="Picture 5" descr="04-roadmap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80" y="1417320"/>
            <a:ext cx="8971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04 — GETTING TO A REAL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What it takes to go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9E97"/>
                </a:solidFill>
                <a:latin typeface="Calibri"/>
              </a:rPr>
              <a:t>ORGANISATIONAL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4406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Named owner per accountability layer (Platform Eng, Security, Data Governance, Responsible AI, Product, Architecture)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Risk tier defined for the pilot workflow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Redaction/retention policy signed off before real content is logged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Executive sponsor for the cost-avoidance / ROI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173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9E97"/>
                </a:solidFill>
                <a:latin typeface="Calibri"/>
              </a:rPr>
              <a:t>TECHNICAL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4406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Datadog org with LLM Observability + APM entitlements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SDK vs. OpenTelemetry instrumentation decision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Approved model/tool registry for the pilot workflow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Tag taxonomy agreed before scaling past the pilot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On-call/alert-routing target to wire monitors and SLOs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623560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Sources: AI Observability Metrics Catalogue v1.0  •  AI Observability — Datadog Implementation Addendum  •  OpenTelemetry GenAI semantic conventions  •  NIST AI RMF 1.0  •  OWASP Top 10 for LLM Apps  •  Datadog LLM Observability 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